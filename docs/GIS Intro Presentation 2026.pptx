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3" r:id="rId1"/>
  </p:sldMasterIdLst>
  <p:notesMasterIdLst>
    <p:notesMasterId r:id="rId24"/>
  </p:notesMasterIdLst>
  <p:handoutMasterIdLst>
    <p:handoutMasterId r:id="rId25"/>
  </p:handoutMasterIdLst>
  <p:sldIdLst>
    <p:sldId id="258" r:id="rId2"/>
    <p:sldId id="325" r:id="rId3"/>
    <p:sldId id="259" r:id="rId4"/>
    <p:sldId id="261" r:id="rId5"/>
    <p:sldId id="329" r:id="rId6"/>
    <p:sldId id="328" r:id="rId7"/>
    <p:sldId id="332" r:id="rId8"/>
    <p:sldId id="333" r:id="rId9"/>
    <p:sldId id="267" r:id="rId10"/>
    <p:sldId id="268" r:id="rId11"/>
    <p:sldId id="260" r:id="rId12"/>
    <p:sldId id="330" r:id="rId13"/>
    <p:sldId id="331" r:id="rId14"/>
    <p:sldId id="326" r:id="rId15"/>
    <p:sldId id="327" r:id="rId16"/>
    <p:sldId id="280" r:id="rId17"/>
    <p:sldId id="281" r:id="rId18"/>
    <p:sldId id="342" r:id="rId19"/>
    <p:sldId id="336" r:id="rId20"/>
    <p:sldId id="349" r:id="rId21"/>
    <p:sldId id="266" r:id="rId22"/>
    <p:sldId id="348" r:id="rId23"/>
  </p:sldIdLst>
  <p:sldSz cx="9144000" cy="6858000" type="screen4x3"/>
  <p:notesSz cx="6858000" cy="9144000"/>
  <p:custShowLst>
    <p:custShow name="LA class" id="0">
      <p:sldLst>
        <p:sld r:id="rId4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33"/>
    <a:srgbClr val="FF3300"/>
    <a:srgbClr val="B32317"/>
    <a:srgbClr val="00355F"/>
    <a:srgbClr val="A21C1A"/>
    <a:srgbClr val="000069"/>
    <a:srgbClr val="0000CC"/>
    <a:srgbClr val="990033"/>
    <a:srgbClr val="FF99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27" autoAdjust="0"/>
    <p:restoredTop sz="80340" autoAdjust="0"/>
  </p:normalViewPr>
  <p:slideViewPr>
    <p:cSldViewPr>
      <p:cViewPr varScale="1">
        <p:scale>
          <a:sx n="97" d="100"/>
          <a:sy n="97" d="100"/>
        </p:scale>
        <p:origin x="143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7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7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7F2008BC-27D3-4460-B073-E309A83231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3EF5EA5B-AE7A-49E1-BD00-16CED4B713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261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F5EA5B-AE7A-49E1-BD00-16CED4B713B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4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62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50000"/>
              </a:spcAft>
              <a:buClrTx/>
              <a:buSzTx/>
              <a:buFontTx/>
              <a:buNone/>
              <a:tabLst/>
              <a:defRPr/>
            </a:pPr>
            <a:r>
              <a:rPr lang="en-US" i="0" dirty="0">
                <a:latin typeface="Arial" pitchFamily="34" charset="0"/>
              </a:rPr>
              <a:t>Metadata is created and maintained as an integrated part of the data creation process — instead of something that might get done at end of project, if time allows.</a:t>
            </a:r>
          </a:p>
          <a:p>
            <a:pPr>
              <a:spcAft>
                <a:spcPct val="50000"/>
              </a:spcAft>
            </a:pPr>
            <a:endParaRPr lang="en-US" i="1" dirty="0">
              <a:latin typeface="Arial" pitchFamily="34" charset="0"/>
            </a:endParaRPr>
          </a:p>
          <a:p>
            <a:pPr>
              <a:spcAft>
                <a:spcPct val="50000"/>
              </a:spcAft>
            </a:pPr>
            <a:endParaRPr lang="en-US" i="1" dirty="0">
              <a:latin typeface="Arial" pitchFamily="34" charset="0"/>
            </a:endParaRPr>
          </a:p>
          <a:p>
            <a:pPr>
              <a:spcAft>
                <a:spcPct val="50000"/>
              </a:spcAft>
            </a:pPr>
            <a:r>
              <a:rPr lang="en-US" i="1" dirty="0">
                <a:latin typeface="Arial" pitchFamily="34" charset="0"/>
              </a:rPr>
              <a:t>Metadata is a critical component of a complete data set. As such, it should never be viewed as a separate entity. It is and should remain an integral component of the data. No data set should be considered complete without a complete, well-written metadata record or records. 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Without accompanying metadata, the fitness for use of any given data set is unknown, and its usefulness is significantly impaired.</a:t>
            </a:r>
          </a:p>
          <a:p>
            <a:pPr>
              <a:spcAft>
                <a:spcPct val="50000"/>
              </a:spcAft>
            </a:pPr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826A8-001B-428C-8E2E-E8BF02233AF5}" type="slidenum">
              <a:rPr lang="en-US">
                <a:solidFill>
                  <a:prstClr val="black"/>
                </a:solidFill>
              </a:rPr>
              <a:pPr/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602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50000"/>
              </a:spcAft>
            </a:pPr>
            <a:r>
              <a:rPr lang="en-US" i="1" dirty="0">
                <a:latin typeface="Arial" pitchFamily="34" charset="0"/>
              </a:rPr>
              <a:t>Metadata is a critical component of a complete data set. As such, it should never be viewed as a separate entity. It is and should remain an integral component of the data. No data set should be considered complete without a complete, well-written metadata record or records. 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Without accompanying metadata, the fitness for use of any given data set is unknown, and its usefulness is significantly impaired.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Metadata is created and maintained as an integrated part of the data creation process — instead of something that might get done at end of project, if time allows.</a:t>
            </a:r>
          </a:p>
          <a:p>
            <a:pPr>
              <a:spcAft>
                <a:spcPct val="50000"/>
              </a:spcAft>
            </a:pPr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826A8-001B-428C-8E2E-E8BF02233AF5}" type="slidenum">
              <a:rPr lang="en-US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231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95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50000"/>
              </a:spcAft>
            </a:pPr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826A8-001B-428C-8E2E-E8BF02233AF5}" type="slidenum">
              <a:rPr lang="en-US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306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50000"/>
              </a:spcAft>
            </a:pPr>
            <a:r>
              <a:rPr lang="en-US" i="1" dirty="0">
                <a:latin typeface="Arial" pitchFamily="34" charset="0"/>
              </a:rPr>
              <a:t>Metadata is a critical component of a complete data set. As such, it should never be viewed as a separate entity. It is and should remain an integral component of the data. No data set should be considered complete without a complete, well-written metadata record or records. 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Without accompanying metadata, the fitness for use of any given data set is unknown, and its usefulness is significantly impaired.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Metadata is created and maintained as an integrated part of the data creation process — instead of something that might get done at end of project, if time allows.</a:t>
            </a:r>
          </a:p>
          <a:p>
            <a:pPr>
              <a:spcAft>
                <a:spcPct val="50000"/>
              </a:spcAft>
            </a:pPr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826A8-001B-428C-8E2E-E8BF02233AF5}" type="slidenum">
              <a:rPr lang="en-US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011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50000"/>
              </a:spcAft>
            </a:pPr>
            <a:r>
              <a:rPr lang="en-US" i="0" dirty="0">
                <a:latin typeface="Arial" pitchFamily="34" charset="0"/>
              </a:rPr>
              <a:t>This is the power of GIS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826A8-001B-428C-8E2E-E8BF02233AF5}" type="slidenum">
              <a:rPr lang="en-US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22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383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53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31B8B-C220-4CC2-B8A5-79F15319BB92}" type="datetimeFigureOut">
              <a:rPr lang="en-US" smtClean="0"/>
              <a:pPr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Iowa State University</a:t>
            </a:r>
          </a:p>
          <a:p>
            <a:pPr>
              <a:defRPr/>
            </a:pPr>
            <a:r>
              <a:rPr lang="en-US"/>
              <a:t>University Extension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E1C2-E007-4CF6-B834-2C71323C7C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31B8B-C220-4CC2-B8A5-79F15319BB92}" type="datetimeFigureOut">
              <a:rPr lang="en-US" smtClean="0"/>
              <a:pPr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Iowa State University </a:t>
            </a:r>
            <a:br>
              <a:rPr lang="en-US"/>
            </a:br>
            <a:r>
              <a:rPr lang="en-US"/>
              <a:t>Extension and Outreach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FE1C2-E007-4CF6-B834-2C71323C7C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smetcalf\Desktop\Desktop\Desktop\Desktop\Desktop\NewISUEOwordmarks\ISUEO_eps\ISUEO_RedBarNoBleed.pn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5943600"/>
            <a:ext cx="9144000" cy="9144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Arial Black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669B1B-40E1-4344-8998-E05DDB9648DA}"/>
              </a:ext>
            </a:extLst>
          </p:cNvPr>
          <p:cNvSpPr txBox="1">
            <a:spLocks/>
          </p:cNvSpPr>
          <p:nvPr/>
        </p:nvSpPr>
        <p:spPr>
          <a:xfrm>
            <a:off x="818533" y="3293627"/>
            <a:ext cx="7772400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dirty="0"/>
              <a:t>What is GIS?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2173DDF-88B3-4170-AC12-76598DA28AFB}"/>
              </a:ext>
            </a:extLst>
          </p:cNvPr>
          <p:cNvSpPr txBox="1">
            <a:spLocks/>
          </p:cNvSpPr>
          <p:nvPr/>
        </p:nvSpPr>
        <p:spPr>
          <a:xfrm>
            <a:off x="1504333" y="4419600"/>
            <a:ext cx="6400800" cy="1752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 Introduction to Geographic Information Systems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0BA85-0AE7-4FCC-A3CD-9FBAD77924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627" y="381000"/>
            <a:ext cx="1674213" cy="244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5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04800"/>
            <a:ext cx="7620000" cy="1143000"/>
          </a:xfrm>
        </p:spPr>
        <p:txBody>
          <a:bodyPr/>
          <a:lstStyle/>
          <a:p>
            <a:pPr algn="ctr"/>
            <a:r>
              <a:rPr lang="en-US" sz="3200" dirty="0"/>
              <a:t>Overview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600201"/>
            <a:ext cx="7848600" cy="388619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charset="0"/>
                <a:cs typeface="Arial" charset="0"/>
              </a:rPr>
              <a:t>What is a GIS?</a:t>
            </a:r>
          </a:p>
          <a:p>
            <a:r>
              <a:rPr lang="en-US" sz="2400" dirty="0">
                <a:latin typeface="Arial" charset="0"/>
                <a:cs typeface="Arial" charset="0"/>
              </a:rPr>
              <a:t>How can we use it?</a:t>
            </a:r>
          </a:p>
          <a:p>
            <a:r>
              <a:rPr lang="en-US" sz="2400" dirty="0">
                <a:latin typeface="Arial" charset="0"/>
                <a:cs typeface="Arial" charset="0"/>
              </a:rPr>
              <a:t>What is QGIS?</a:t>
            </a:r>
          </a:p>
          <a:p>
            <a:r>
              <a:rPr lang="en-US" sz="2400" dirty="0">
                <a:latin typeface="Arial" charset="0"/>
                <a:cs typeface="Arial" charset="0"/>
              </a:rPr>
              <a:t>Map Types and Examples</a:t>
            </a:r>
          </a:p>
        </p:txBody>
      </p:sp>
    </p:spTree>
    <p:extLst>
      <p:ext uri="{BB962C8B-B14F-4D97-AF65-F5344CB8AC3E}">
        <p14:creationId xmlns:p14="http://schemas.microsoft.com/office/powerpoint/2010/main" val="159604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28600" y="457200"/>
            <a:ext cx="861060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latin typeface="Arial Black" panose="020B0A04020102020204" pitchFamily="34" charset="0"/>
              </a:rPr>
              <a:t>What is a GIS?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47800"/>
            <a:ext cx="3352800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Geographic Information System: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system for storing, analyzing, and manipulating geographically referenced information on a computer.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Allows users to: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Investigate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Manage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Develop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sz="2000" b="1" dirty="0">
                <a:latin typeface="Arial"/>
                <a:cs typeface="Arial"/>
              </a:rPr>
              <a:t>Share </a:t>
            </a:r>
            <a:r>
              <a:rPr lang="en-US" sz="2000" dirty="0">
                <a:latin typeface="Arial"/>
                <a:cs typeface="Arial"/>
              </a:rPr>
              <a:t>spatial data</a:t>
            </a:r>
          </a:p>
        </p:txBody>
      </p:sp>
      <p:pic>
        <p:nvPicPr>
          <p:cNvPr id="10" name="Picture 9" descr="GI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14800" y="1447800"/>
            <a:ext cx="4791713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6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What is a Geographic Information System (GIS)?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36007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Arial"/>
                <a:cs typeface="Arial"/>
              </a:rPr>
              <a:t>The integration of computer hardware, software, and digitized data to display, manage, and analyze all forms of </a:t>
            </a:r>
            <a:r>
              <a:rPr lang="en-US" sz="2400" b="1" dirty="0">
                <a:latin typeface="Arial"/>
                <a:cs typeface="Arial"/>
              </a:rPr>
              <a:t>geographically referenced</a:t>
            </a:r>
            <a:r>
              <a:rPr lang="en-US" sz="2400" dirty="0">
                <a:latin typeface="Arial"/>
                <a:cs typeface="Arial"/>
              </a:rPr>
              <a:t> information.</a:t>
            </a:r>
          </a:p>
          <a:p>
            <a:r>
              <a:rPr lang="en-US" sz="2400" dirty="0"/>
              <a:t>Enables users to work with geographically referenced data in map form, revealing relationships, patterns, and trends in the dataset. </a:t>
            </a:r>
          </a:p>
          <a:p>
            <a:pPr lvl="1"/>
            <a:r>
              <a:rPr lang="en-US" sz="2000" dirty="0"/>
              <a:t>These relationships, patterns, and trends can cut across both time and space.</a:t>
            </a:r>
          </a:p>
        </p:txBody>
      </p:sp>
    </p:spTree>
    <p:extLst>
      <p:ext uri="{BB962C8B-B14F-4D97-AF65-F5344CB8AC3E}">
        <p14:creationId xmlns:p14="http://schemas.microsoft.com/office/powerpoint/2010/main" val="741097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00" t="13734" r="19333" b="14533"/>
          <a:stretch/>
        </p:blipFill>
        <p:spPr>
          <a:xfrm>
            <a:off x="1752600" y="228600"/>
            <a:ext cx="6096000" cy="550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0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83" t="18533" r="16500" b="5881"/>
          <a:stretch/>
        </p:blipFill>
        <p:spPr>
          <a:xfrm>
            <a:off x="1600200" y="15240"/>
            <a:ext cx="6413342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511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4800600" y="1371600"/>
            <a:ext cx="3813176" cy="3717925"/>
            <a:chOff x="382" y="1790"/>
            <a:chExt cx="2402" cy="2342"/>
          </a:xfrm>
          <a:effectLst/>
        </p:grpSpPr>
        <p:sp>
          <p:nvSpPr>
            <p:cNvPr id="3" name="Arc 16"/>
            <p:cNvSpPr>
              <a:spLocks/>
            </p:cNvSpPr>
            <p:nvPr/>
          </p:nvSpPr>
          <p:spPr bwMode="auto">
            <a:xfrm>
              <a:off x="1578" y="1790"/>
              <a:ext cx="1206" cy="1756"/>
            </a:xfrm>
            <a:custGeom>
              <a:avLst/>
              <a:gdLst>
                <a:gd name="G0" fmla="+- 72 0 0"/>
                <a:gd name="G1" fmla="+- 21600 0 0"/>
                <a:gd name="G2" fmla="+- 21600 0 0"/>
                <a:gd name="T0" fmla="*/ 0 w 21672"/>
                <a:gd name="T1" fmla="*/ 0 h 32394"/>
                <a:gd name="T2" fmla="*/ 18782 w 21672"/>
                <a:gd name="T3" fmla="*/ 32394 h 32394"/>
                <a:gd name="T4" fmla="*/ 72 w 21672"/>
                <a:gd name="T5" fmla="*/ 21600 h 32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72" h="32394" fill="none" extrusionOk="0">
                  <a:moveTo>
                    <a:pt x="0" y="0"/>
                  </a:moveTo>
                  <a:cubicBezTo>
                    <a:pt x="24" y="0"/>
                    <a:pt x="48" y="-1"/>
                    <a:pt x="72" y="0"/>
                  </a:cubicBezTo>
                  <a:cubicBezTo>
                    <a:pt x="12001" y="0"/>
                    <a:pt x="21672" y="9670"/>
                    <a:pt x="21672" y="21600"/>
                  </a:cubicBezTo>
                  <a:cubicBezTo>
                    <a:pt x="21672" y="25389"/>
                    <a:pt x="20675" y="29111"/>
                    <a:pt x="18781" y="32393"/>
                  </a:cubicBezTo>
                </a:path>
                <a:path w="21672" h="32394" stroke="0" extrusionOk="0">
                  <a:moveTo>
                    <a:pt x="0" y="0"/>
                  </a:moveTo>
                  <a:cubicBezTo>
                    <a:pt x="24" y="0"/>
                    <a:pt x="48" y="-1"/>
                    <a:pt x="72" y="0"/>
                  </a:cubicBezTo>
                  <a:cubicBezTo>
                    <a:pt x="12001" y="0"/>
                    <a:pt x="21672" y="9670"/>
                    <a:pt x="21672" y="21600"/>
                  </a:cubicBezTo>
                  <a:cubicBezTo>
                    <a:pt x="21672" y="25389"/>
                    <a:pt x="20675" y="29111"/>
                    <a:pt x="18781" y="32393"/>
                  </a:cubicBezTo>
                  <a:lnTo>
                    <a:pt x="72" y="21600"/>
                  </a:lnTo>
                  <a:close/>
                </a:path>
              </a:pathLst>
            </a:custGeom>
            <a:gradFill rotWithShape="1">
              <a:gsLst>
                <a:gs pos="0">
                  <a:srgbClr val="CCECFF"/>
                </a:gs>
                <a:gs pos="100000">
                  <a:srgbClr val="3366FF"/>
                </a:gs>
              </a:gsLst>
              <a:path path="shape">
                <a:fillToRect l="50000" t="50000" r="50000" b="50000"/>
              </a:path>
            </a:gradFill>
            <a:ln w="25400">
              <a:noFill/>
              <a:round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white"/>
                </a:solidFill>
                <a:latin typeface="Arial" charset="0"/>
              </a:endParaRPr>
            </a:p>
          </p:txBody>
        </p:sp>
        <p:sp>
          <p:nvSpPr>
            <p:cNvPr id="4" name="Arc 17"/>
            <p:cNvSpPr>
              <a:spLocks/>
            </p:cNvSpPr>
            <p:nvPr/>
          </p:nvSpPr>
          <p:spPr bwMode="auto">
            <a:xfrm>
              <a:off x="382" y="1790"/>
              <a:ext cx="1202" cy="175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854 w 21600"/>
                <a:gd name="T1" fmla="*/ 32331 h 32331"/>
                <a:gd name="T2" fmla="*/ 21528 w 21600"/>
                <a:gd name="T3" fmla="*/ 0 h 32331"/>
                <a:gd name="T4" fmla="*/ 21600 w 21600"/>
                <a:gd name="T5" fmla="*/ 21600 h 32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2331" fill="none" extrusionOk="0">
                  <a:moveTo>
                    <a:pt x="2854" y="32330"/>
                  </a:moveTo>
                  <a:cubicBezTo>
                    <a:pt x="983" y="29063"/>
                    <a:pt x="0" y="25364"/>
                    <a:pt x="0" y="21600"/>
                  </a:cubicBezTo>
                  <a:cubicBezTo>
                    <a:pt x="-1" y="9698"/>
                    <a:pt x="9626" y="39"/>
                    <a:pt x="21528" y="0"/>
                  </a:cubicBezTo>
                </a:path>
                <a:path w="21600" h="32331" stroke="0" extrusionOk="0">
                  <a:moveTo>
                    <a:pt x="2854" y="32330"/>
                  </a:moveTo>
                  <a:cubicBezTo>
                    <a:pt x="983" y="29063"/>
                    <a:pt x="0" y="25364"/>
                    <a:pt x="0" y="21600"/>
                  </a:cubicBezTo>
                  <a:cubicBezTo>
                    <a:pt x="-1" y="9698"/>
                    <a:pt x="9626" y="39"/>
                    <a:pt x="21528" y="0"/>
                  </a:cubicBezTo>
                  <a:lnTo>
                    <a:pt x="21600" y="21600"/>
                  </a:lnTo>
                  <a:close/>
                </a:path>
              </a:pathLst>
            </a:custGeom>
            <a:gradFill rotWithShape="1">
              <a:gsLst>
                <a:gs pos="0">
                  <a:srgbClr val="FFD1CD"/>
                </a:gs>
                <a:gs pos="100000">
                  <a:srgbClr val="E7010C"/>
                </a:gs>
              </a:gsLst>
              <a:path path="shape">
                <a:fillToRect l="50000" t="50000" r="50000" b="50000"/>
              </a:path>
            </a:gradFill>
            <a:ln w="25400">
              <a:noFill/>
              <a:round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white"/>
                </a:solidFill>
                <a:latin typeface="Arial" charset="0"/>
              </a:endParaRPr>
            </a:p>
          </p:txBody>
        </p:sp>
        <p:sp>
          <p:nvSpPr>
            <p:cNvPr id="5" name="Arc 18"/>
            <p:cNvSpPr>
              <a:spLocks/>
            </p:cNvSpPr>
            <p:nvPr/>
          </p:nvSpPr>
          <p:spPr bwMode="auto">
            <a:xfrm>
              <a:off x="539" y="2961"/>
              <a:ext cx="2084" cy="1171"/>
            </a:xfrm>
            <a:custGeom>
              <a:avLst/>
              <a:gdLst>
                <a:gd name="G0" fmla="+- 18746 0 0"/>
                <a:gd name="G1" fmla="+- 0 0 0"/>
                <a:gd name="G2" fmla="+- 21600 0 0"/>
                <a:gd name="T0" fmla="*/ 37456 w 37456"/>
                <a:gd name="T1" fmla="*/ 10794 h 21600"/>
                <a:gd name="T2" fmla="*/ 0 w 37456"/>
                <a:gd name="T3" fmla="*/ 10731 h 21600"/>
                <a:gd name="T4" fmla="*/ 18746 w 37456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456" h="21600" fill="none" extrusionOk="0">
                  <a:moveTo>
                    <a:pt x="37455" y="10793"/>
                  </a:moveTo>
                  <a:cubicBezTo>
                    <a:pt x="33598" y="17480"/>
                    <a:pt x="26465" y="21599"/>
                    <a:pt x="18746" y="21600"/>
                  </a:cubicBezTo>
                  <a:cubicBezTo>
                    <a:pt x="11000" y="21600"/>
                    <a:pt x="3848" y="17452"/>
                    <a:pt x="0" y="10730"/>
                  </a:cubicBezTo>
                </a:path>
                <a:path w="37456" h="21600" stroke="0" extrusionOk="0">
                  <a:moveTo>
                    <a:pt x="37455" y="10793"/>
                  </a:moveTo>
                  <a:cubicBezTo>
                    <a:pt x="33598" y="17480"/>
                    <a:pt x="26465" y="21599"/>
                    <a:pt x="18746" y="21600"/>
                  </a:cubicBezTo>
                  <a:cubicBezTo>
                    <a:pt x="11000" y="21600"/>
                    <a:pt x="3848" y="17452"/>
                    <a:pt x="0" y="10730"/>
                  </a:cubicBezTo>
                  <a:lnTo>
                    <a:pt x="18746" y="0"/>
                  </a:lnTo>
                  <a:close/>
                </a:path>
              </a:pathLst>
            </a:custGeom>
            <a:gradFill rotWithShape="0">
              <a:gsLst>
                <a:gs pos="0">
                  <a:srgbClr val="CCFFCC"/>
                </a:gs>
                <a:gs pos="100000">
                  <a:srgbClr val="009900"/>
                </a:gs>
              </a:gsLst>
              <a:path path="shape">
                <a:fillToRect l="50000" t="50000" r="50000" b="50000"/>
              </a:path>
            </a:gradFill>
            <a:ln w="25400">
              <a:noFill/>
              <a:round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white"/>
                </a:solidFill>
                <a:latin typeface="Arial" charset="0"/>
              </a:endParaRPr>
            </a:p>
          </p:txBody>
        </p:sp>
        <p:sp>
          <p:nvSpPr>
            <p:cNvPr id="6" name="Rectangle 19"/>
            <p:cNvSpPr>
              <a:spLocks noChangeArrowheads="1"/>
            </p:cNvSpPr>
            <p:nvPr/>
          </p:nvSpPr>
          <p:spPr bwMode="auto">
            <a:xfrm>
              <a:off x="1776" y="2496"/>
              <a:ext cx="791" cy="233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prstClr val="white"/>
                  </a:solidFill>
                </a:rPr>
                <a:t>Metadata</a:t>
              </a:r>
              <a:endParaRPr lang="en-US" sz="2400" dirty="0">
                <a:solidFill>
                  <a:prstClr val="white"/>
                </a:solidFill>
                <a:latin typeface="Times New Roman" pitchFamily="18" charset="0"/>
              </a:endParaRPr>
            </a:p>
          </p:txBody>
        </p:sp>
        <p:sp>
          <p:nvSpPr>
            <p:cNvPr id="7" name="Rectangle 20"/>
            <p:cNvSpPr>
              <a:spLocks noChangeArrowheads="1"/>
            </p:cNvSpPr>
            <p:nvPr/>
          </p:nvSpPr>
          <p:spPr bwMode="auto">
            <a:xfrm>
              <a:off x="966" y="3418"/>
              <a:ext cx="1143" cy="233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prstClr val="white"/>
                  </a:solidFill>
                </a:rPr>
                <a:t>Non-spatial</a:t>
              </a:r>
              <a:r>
                <a:rPr lang="en-US" sz="2400" b="1" dirty="0">
                  <a:solidFill>
                    <a:srgbClr val="4E5B6F"/>
                  </a:solidFill>
                </a:rPr>
                <a:t> </a:t>
              </a:r>
              <a:r>
                <a:rPr lang="en-US" sz="2400" b="1" dirty="0">
                  <a:solidFill>
                    <a:prstClr val="white"/>
                  </a:solidFill>
                </a:rPr>
                <a:t>or</a:t>
              </a:r>
              <a:endParaRPr lang="en-US" sz="2400" dirty="0">
                <a:solidFill>
                  <a:prstClr val="white"/>
                </a:solidFill>
                <a:latin typeface="Times New Roman" pitchFamily="18" charset="0"/>
              </a:endParaRPr>
            </a:p>
          </p:txBody>
        </p:sp>
        <p:sp>
          <p:nvSpPr>
            <p:cNvPr id="8" name="Rectangle 21"/>
            <p:cNvSpPr>
              <a:spLocks noChangeArrowheads="1"/>
            </p:cNvSpPr>
            <p:nvPr/>
          </p:nvSpPr>
          <p:spPr bwMode="auto">
            <a:xfrm>
              <a:off x="1141" y="3648"/>
              <a:ext cx="786" cy="233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prstClr val="white"/>
                  </a:solidFill>
                </a:rPr>
                <a:t>attributes</a:t>
              </a:r>
              <a:endParaRPr lang="en-US" sz="2400" dirty="0">
                <a:solidFill>
                  <a:prstClr val="white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22"/>
            <p:cNvSpPr>
              <a:spLocks noChangeArrowheads="1"/>
            </p:cNvSpPr>
            <p:nvPr/>
          </p:nvSpPr>
          <p:spPr bwMode="auto">
            <a:xfrm>
              <a:off x="723" y="2496"/>
              <a:ext cx="568" cy="233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prstClr val="white"/>
                  </a:solidFill>
                </a:rPr>
                <a:t>Spatial</a:t>
              </a:r>
              <a:endParaRPr lang="en-US" sz="2400" dirty="0">
                <a:solidFill>
                  <a:prstClr val="white"/>
                </a:solidFill>
                <a:latin typeface="Times New Roman" pitchFamily="18" charset="0"/>
              </a:endParaRPr>
            </a:p>
          </p:txBody>
        </p:sp>
      </p:grpSp>
      <p:sp>
        <p:nvSpPr>
          <p:cNvPr id="14" name="Content Placeholder 5"/>
          <p:cNvSpPr txBox="1">
            <a:spLocks/>
          </p:cNvSpPr>
          <p:nvPr/>
        </p:nvSpPr>
        <p:spPr>
          <a:xfrm>
            <a:off x="677863" y="1752600"/>
            <a:ext cx="3810000" cy="36115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400" dirty="0"/>
              <a:t>Spatial</a:t>
            </a:r>
          </a:p>
          <a:p>
            <a:pPr fontAlgn="auto">
              <a:spcAft>
                <a:spcPts val="0"/>
              </a:spcAft>
            </a:pPr>
            <a:r>
              <a:rPr lang="en-US" sz="2400" dirty="0"/>
              <a:t>Non-spatial/ attributes</a:t>
            </a:r>
          </a:p>
          <a:p>
            <a:pPr fontAlgn="auto">
              <a:spcAft>
                <a:spcPts val="0"/>
              </a:spcAft>
            </a:pPr>
            <a:r>
              <a:rPr lang="en-US" sz="2400" dirty="0"/>
              <a:t>Metadata</a:t>
            </a:r>
          </a:p>
          <a:p>
            <a:pPr fontAlgn="auto">
              <a:spcAft>
                <a:spcPts val="0"/>
              </a:spcAft>
            </a:pPr>
            <a:endParaRPr lang="en-US" sz="24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lang="en-US" sz="2400" dirty="0"/>
              <a:t>All three are important!</a:t>
            </a:r>
          </a:p>
          <a:p>
            <a:pPr fontAlgn="auto">
              <a:spcAft>
                <a:spcPts val="0"/>
              </a:spcAft>
            </a:pPr>
            <a:endParaRPr lang="en-US" sz="24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96D3856-A6FB-4C31-BB42-A6D03BDB42D3}"/>
              </a:ext>
            </a:extLst>
          </p:cNvPr>
          <p:cNvSpPr txBox="1">
            <a:spLocks/>
          </p:cNvSpPr>
          <p:nvPr/>
        </p:nvSpPr>
        <p:spPr>
          <a:xfrm>
            <a:off x="457200" y="113273"/>
            <a:ext cx="8229600" cy="921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Three Types of Data</a:t>
            </a:r>
          </a:p>
        </p:txBody>
      </p:sp>
    </p:spTree>
    <p:extLst>
      <p:ext uri="{BB962C8B-B14F-4D97-AF65-F5344CB8AC3E}">
        <p14:creationId xmlns:p14="http://schemas.microsoft.com/office/powerpoint/2010/main" val="1306278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5"/>
          <p:cNvSpPr txBox="1">
            <a:spLocks/>
          </p:cNvSpPr>
          <p:nvPr/>
        </p:nvSpPr>
        <p:spPr>
          <a:xfrm>
            <a:off x="457200" y="1143000"/>
            <a:ext cx="3810000" cy="39925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lang="en-US" sz="2400" dirty="0"/>
          </a:p>
          <a:p>
            <a:pPr fontAlgn="auto">
              <a:spcAft>
                <a:spcPts val="0"/>
              </a:spcAft>
            </a:pPr>
            <a:r>
              <a:rPr lang="en-US" sz="2400" dirty="0"/>
              <a:t>Physical locations based on coordinates</a:t>
            </a:r>
          </a:p>
          <a:p>
            <a:pPr fontAlgn="auto">
              <a:spcAft>
                <a:spcPts val="0"/>
              </a:spcAft>
            </a:pPr>
            <a:r>
              <a:rPr lang="en-US" sz="2400" dirty="0"/>
              <a:t>Types:</a:t>
            </a:r>
          </a:p>
          <a:p>
            <a:pPr lvl="1" fontAlgn="auto">
              <a:spcAft>
                <a:spcPts val="0"/>
              </a:spcAft>
            </a:pPr>
            <a:r>
              <a:rPr lang="en-US" sz="2400" dirty="0"/>
              <a:t>Points</a:t>
            </a:r>
          </a:p>
          <a:p>
            <a:pPr lvl="1" fontAlgn="auto">
              <a:spcAft>
                <a:spcPts val="0"/>
              </a:spcAft>
            </a:pPr>
            <a:r>
              <a:rPr lang="en-US" sz="2400" dirty="0"/>
              <a:t>Lines</a:t>
            </a:r>
          </a:p>
          <a:p>
            <a:pPr lvl="1" fontAlgn="auto">
              <a:spcAft>
                <a:spcPts val="0"/>
              </a:spcAft>
            </a:pPr>
            <a:r>
              <a:rPr lang="en-US" sz="2400" dirty="0"/>
              <a:t>Polygons</a:t>
            </a:r>
          </a:p>
          <a:p>
            <a:pPr lvl="1" fontAlgn="auto">
              <a:spcAft>
                <a:spcPts val="0"/>
              </a:spcAft>
            </a:pPr>
            <a:r>
              <a:rPr lang="en-US" sz="2400" b="1" dirty="0"/>
              <a:t>Raster</a:t>
            </a:r>
          </a:p>
          <a:p>
            <a:pPr fontAlgn="auto">
              <a:spcAft>
                <a:spcPts val="0"/>
              </a:spcAft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524000"/>
            <a:ext cx="4495800" cy="301452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2439C20-6F43-45CD-B632-A34247EC9E2F}"/>
              </a:ext>
            </a:extLst>
          </p:cNvPr>
          <p:cNvSpPr txBox="1">
            <a:spLocks/>
          </p:cNvSpPr>
          <p:nvPr/>
        </p:nvSpPr>
        <p:spPr>
          <a:xfrm>
            <a:off x="457200" y="132001"/>
            <a:ext cx="8229600" cy="921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Spatial Data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366519F9-FB69-494E-A572-0A9CB39A361C}"/>
              </a:ext>
            </a:extLst>
          </p:cNvPr>
          <p:cNvSpPr/>
          <p:nvPr/>
        </p:nvSpPr>
        <p:spPr>
          <a:xfrm>
            <a:off x="2590800" y="2819400"/>
            <a:ext cx="609600" cy="1219200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E5066-819E-4551-9B33-8FE92C83187A}"/>
              </a:ext>
            </a:extLst>
          </p:cNvPr>
          <p:cNvSpPr txBox="1"/>
          <p:nvPr/>
        </p:nvSpPr>
        <p:spPr>
          <a:xfrm>
            <a:off x="3320469" y="3244334"/>
            <a:ext cx="1251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Vector</a:t>
            </a:r>
          </a:p>
        </p:txBody>
      </p:sp>
    </p:spTree>
    <p:extLst>
      <p:ext uri="{BB962C8B-B14F-4D97-AF65-F5344CB8AC3E}">
        <p14:creationId xmlns:p14="http://schemas.microsoft.com/office/powerpoint/2010/main" val="1448288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914400"/>
            <a:ext cx="8534400" cy="1143000"/>
          </a:xfrm>
        </p:spPr>
        <p:txBody>
          <a:bodyPr/>
          <a:lstStyle/>
          <a:p>
            <a:r>
              <a:rPr lang="en-US" sz="2400" dirty="0">
                <a:latin typeface="Arial"/>
                <a:cs typeface="Arial"/>
              </a:rPr>
              <a:t>Maps contain a collection of layers that represent real-world objects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276600"/>
            <a:ext cx="2664506" cy="228545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 descr="float_rast.JPG"/>
          <p:cNvPicPr>
            <a:picLocks noChangeAspect="1"/>
          </p:cNvPicPr>
          <p:nvPr/>
        </p:nvPicPr>
        <p:blipFill rotWithShape="1">
          <a:blip r:embed="rId3" cstate="print"/>
          <a:srcRect l="2614" t="5738" r="3288" b="5315"/>
          <a:stretch/>
        </p:blipFill>
        <p:spPr>
          <a:xfrm>
            <a:off x="6542399" y="3615450"/>
            <a:ext cx="2353951" cy="17090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3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7" t="14293" r="65725" b="5936"/>
          <a:stretch/>
        </p:blipFill>
        <p:spPr bwMode="auto">
          <a:xfrm>
            <a:off x="381000" y="3048000"/>
            <a:ext cx="2986798" cy="238807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457200" y="132001"/>
            <a:ext cx="8229600" cy="921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Types of Spatial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9225" y="1980272"/>
            <a:ext cx="3846349" cy="92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914400">
              <a:spcBef>
                <a:spcPct val="20000"/>
              </a:spcBef>
            </a:pPr>
            <a:r>
              <a:rPr lang="en-US" sz="17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Raster: </a:t>
            </a:r>
            <a:r>
              <a:rPr lang="en-US" sz="1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represents pixels within a grid (aerial imagery)</a:t>
            </a:r>
          </a:p>
          <a:p>
            <a:pPr lvl="0" defTabSz="914400">
              <a:spcBef>
                <a:spcPct val="20000"/>
              </a:spcBef>
            </a:pPr>
            <a:endParaRPr lang="en-US" sz="17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8794" y="1980272"/>
            <a:ext cx="3846349" cy="92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914400">
              <a:spcBef>
                <a:spcPct val="20000"/>
              </a:spcBef>
            </a:pPr>
            <a:r>
              <a:rPr lang="en-US" sz="17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Vector: </a:t>
            </a:r>
            <a:r>
              <a:rPr lang="en-US" sz="1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data stored as points, lines, or polygons</a:t>
            </a:r>
          </a:p>
          <a:p>
            <a:pPr lvl="0" defTabSz="914400">
              <a:spcBef>
                <a:spcPct val="20000"/>
              </a:spcBef>
            </a:pPr>
            <a:endParaRPr lang="en-US" sz="17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5167062" y="2604020"/>
            <a:ext cx="387974" cy="1011431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722492" y="2385949"/>
            <a:ext cx="821308" cy="1347851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219200" y="2385949"/>
            <a:ext cx="487081" cy="1119251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296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13822" y="170011"/>
            <a:ext cx="861060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latin typeface="Arial Black" panose="020B0A04020102020204" pitchFamily="34" charset="0"/>
              </a:rPr>
              <a:t>Vector Data (Shapefiles)</a:t>
            </a:r>
          </a:p>
        </p:txBody>
      </p:sp>
      <p:pic>
        <p:nvPicPr>
          <p:cNvPr id="2082" name="Picture 3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15" r="61355"/>
          <a:stretch/>
        </p:blipFill>
        <p:spPr bwMode="auto">
          <a:xfrm>
            <a:off x="1447800" y="1295400"/>
            <a:ext cx="5867400" cy="1986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83" name="Picture 3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51"/>
          <a:stretch/>
        </p:blipFill>
        <p:spPr bwMode="auto">
          <a:xfrm>
            <a:off x="228600" y="3756625"/>
            <a:ext cx="3013873" cy="201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84" name="Picture 3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092"/>
          <a:stretch/>
        </p:blipFill>
        <p:spPr bwMode="auto">
          <a:xfrm>
            <a:off x="3352800" y="3756625"/>
            <a:ext cx="2818873" cy="203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87" name="Picture 39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867"/>
          <a:stretch/>
        </p:blipFill>
        <p:spPr bwMode="auto">
          <a:xfrm>
            <a:off x="6368797" y="3756625"/>
            <a:ext cx="2525607" cy="201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14964" y="7620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Shapefiles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are made up of multiple vertex (vertices). Vertices are intermediate points along an object that reflect its shape. A vertex is the point at which a line changes direction or terminates.</a:t>
            </a:r>
          </a:p>
        </p:txBody>
      </p:sp>
    </p:spTree>
    <p:extLst>
      <p:ext uri="{BB962C8B-B14F-4D97-AF65-F5344CB8AC3E}">
        <p14:creationId xmlns:p14="http://schemas.microsoft.com/office/powerpoint/2010/main" val="1646866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1" y="1676400"/>
            <a:ext cx="3809999" cy="3056609"/>
          </a:xfrm>
          <a:prstGeom prst="rect">
            <a:avLst/>
          </a:prstGeom>
        </p:spPr>
      </p:pic>
      <p:sp>
        <p:nvSpPr>
          <p:cNvPr id="15" name="Content Placeholder 5"/>
          <p:cNvSpPr txBox="1">
            <a:spLocks/>
          </p:cNvSpPr>
          <p:nvPr/>
        </p:nvSpPr>
        <p:spPr>
          <a:xfrm>
            <a:off x="457200" y="1600200"/>
            <a:ext cx="4114800" cy="353536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400" dirty="0"/>
              <a:t>Names</a:t>
            </a:r>
          </a:p>
          <a:p>
            <a:pPr fontAlgn="auto">
              <a:spcAft>
                <a:spcPts val="0"/>
              </a:spcAft>
            </a:pPr>
            <a:r>
              <a:rPr lang="en-US" sz="2400" dirty="0">
                <a:latin typeface="Arial"/>
                <a:cs typeface="Arial"/>
              </a:rPr>
              <a:t>Categories (</a:t>
            </a:r>
            <a:r>
              <a:rPr lang="en-US" sz="2400" dirty="0" err="1">
                <a:latin typeface="Arial"/>
                <a:cs typeface="Arial"/>
              </a:rPr>
              <a:t>eg.</a:t>
            </a:r>
            <a:r>
              <a:rPr lang="en-US" sz="2400" dirty="0">
                <a:latin typeface="Arial"/>
                <a:cs typeface="Arial"/>
              </a:rPr>
              <a:t> Residential/Commercial/Industrial/Agricultural)</a:t>
            </a:r>
            <a:endParaRPr lang="en-US" sz="2400" dirty="0"/>
          </a:p>
          <a:p>
            <a:pPr fontAlgn="auto">
              <a:spcAft>
                <a:spcPts val="0"/>
              </a:spcAft>
            </a:pPr>
            <a:r>
              <a:rPr lang="en-US" sz="2400" dirty="0">
                <a:latin typeface="Arial"/>
                <a:cs typeface="Arial"/>
              </a:rPr>
              <a:t>Characteristics</a:t>
            </a:r>
            <a:endParaRPr lang="en-US" sz="2400" dirty="0"/>
          </a:p>
          <a:p>
            <a:pPr fontAlgn="auto">
              <a:spcAft>
                <a:spcPts val="0"/>
              </a:spcAft>
            </a:pPr>
            <a:r>
              <a:rPr lang="en-US" sz="2400" dirty="0"/>
              <a:t>Other Fields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en-US" sz="2400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en-US" sz="2400" dirty="0">
                <a:latin typeface="Arial"/>
                <a:cs typeface="Arial"/>
              </a:rPr>
              <a:t>Stored in an Attribute Table</a:t>
            </a:r>
          </a:p>
          <a:p>
            <a:pPr fontAlgn="auto">
              <a:spcAft>
                <a:spcPts val="0"/>
              </a:spcAft>
            </a:pPr>
            <a:endParaRPr lang="en-US" sz="2400" dirty="0"/>
          </a:p>
          <a:p>
            <a:pPr marL="0" indent="0" fontAlgn="auto">
              <a:spcAft>
                <a:spcPts val="0"/>
              </a:spcAft>
              <a:buNone/>
            </a:pPr>
            <a:endParaRPr lang="en-US" sz="2400" dirty="0"/>
          </a:p>
          <a:p>
            <a:pPr fontAlgn="auto">
              <a:spcAft>
                <a:spcPts val="0"/>
              </a:spcAft>
            </a:pPr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D1A67EE-650C-4CB6-9279-1B8E09BFF4EE}"/>
              </a:ext>
            </a:extLst>
          </p:cNvPr>
          <p:cNvSpPr txBox="1">
            <a:spLocks/>
          </p:cNvSpPr>
          <p:nvPr/>
        </p:nvSpPr>
        <p:spPr>
          <a:xfrm>
            <a:off x="457200" y="132001"/>
            <a:ext cx="8229600" cy="921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Non-Spatial Data</a:t>
            </a:r>
          </a:p>
        </p:txBody>
      </p:sp>
    </p:spTree>
    <p:extLst>
      <p:ext uri="{BB962C8B-B14F-4D97-AF65-F5344CB8AC3E}">
        <p14:creationId xmlns:p14="http://schemas.microsoft.com/office/powerpoint/2010/main" val="146004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63"/>
          <a:stretch/>
        </p:blipFill>
        <p:spPr>
          <a:xfrm>
            <a:off x="4191000" y="1219200"/>
            <a:ext cx="4800600" cy="4419600"/>
          </a:xfrm>
          <a:prstGeom prst="rect">
            <a:avLst/>
          </a:prstGeom>
        </p:spPr>
      </p:pic>
      <p:sp>
        <p:nvSpPr>
          <p:cNvPr id="14" name="Content Placeholder 5"/>
          <p:cNvSpPr txBox="1">
            <a:spLocks/>
          </p:cNvSpPr>
          <p:nvPr/>
        </p:nvSpPr>
        <p:spPr>
          <a:xfrm>
            <a:off x="457200" y="609600"/>
            <a:ext cx="38100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br>
              <a:rPr lang="en-US" sz="2000" dirty="0"/>
            </a:br>
            <a:endParaRPr lang="en-US" sz="2000" dirty="0"/>
          </a:p>
          <a:p>
            <a:pPr fontAlgn="auto">
              <a:spcAft>
                <a:spcPts val="0"/>
              </a:spcAft>
            </a:pPr>
            <a:r>
              <a:rPr lang="en-US" sz="2000" dirty="0"/>
              <a:t>Data about your data</a:t>
            </a:r>
          </a:p>
          <a:p>
            <a:pPr lvl="1" fontAlgn="auto">
              <a:spcAft>
                <a:spcPts val="0"/>
              </a:spcAft>
            </a:pPr>
            <a:r>
              <a:rPr lang="en-US" sz="1600" dirty="0"/>
              <a:t>Data sources</a:t>
            </a:r>
          </a:p>
          <a:p>
            <a:pPr lvl="1" fontAlgn="auto">
              <a:spcAft>
                <a:spcPts val="0"/>
              </a:spcAft>
            </a:pPr>
            <a:r>
              <a:rPr lang="en-US" sz="1600" dirty="0"/>
              <a:t>Projections</a:t>
            </a:r>
          </a:p>
          <a:p>
            <a:pPr lvl="1" fontAlgn="auto">
              <a:spcAft>
                <a:spcPts val="0"/>
              </a:spcAft>
            </a:pPr>
            <a:r>
              <a:rPr lang="en-US" sz="1600" dirty="0"/>
              <a:t>File types</a:t>
            </a:r>
          </a:p>
          <a:p>
            <a:pPr lvl="1" fontAlgn="auto">
              <a:spcAft>
                <a:spcPts val="0"/>
              </a:spcAft>
            </a:pPr>
            <a:r>
              <a:rPr lang="en-US" sz="1600" dirty="0"/>
              <a:t>Published date or last updated</a:t>
            </a:r>
          </a:p>
          <a:p>
            <a:pPr fontAlgn="auto">
              <a:spcAft>
                <a:spcPts val="0"/>
              </a:spcAft>
            </a:pPr>
            <a:r>
              <a:rPr lang="en-US" sz="2000" dirty="0"/>
              <a:t>Explains what your data is and how it can be used by you and your software</a:t>
            </a:r>
          </a:p>
          <a:p>
            <a:pPr fontAlgn="auto">
              <a:spcAft>
                <a:spcPts val="0"/>
              </a:spcAft>
            </a:pPr>
            <a:r>
              <a:rPr lang="en-US" sz="2000" i="1" u="sng" dirty="0"/>
              <a:t>Critical</a:t>
            </a:r>
            <a:r>
              <a:rPr lang="en-US" sz="2000" dirty="0"/>
              <a:t> for any GIS project 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en-US" sz="2000" dirty="0"/>
          </a:p>
          <a:p>
            <a:pPr marL="0" indent="0" fontAlgn="auto">
              <a:spcAft>
                <a:spcPts val="0"/>
              </a:spcAft>
              <a:buNone/>
            </a:pPr>
            <a:endParaRPr lang="en-US" sz="2000" dirty="0"/>
          </a:p>
          <a:p>
            <a:pPr fontAlgn="auto"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38C675-7B29-41B8-A259-3E9CABCFBCB9}"/>
              </a:ext>
            </a:extLst>
          </p:cNvPr>
          <p:cNvSpPr txBox="1">
            <a:spLocks/>
          </p:cNvSpPr>
          <p:nvPr/>
        </p:nvSpPr>
        <p:spPr>
          <a:xfrm>
            <a:off x="457200" y="132001"/>
            <a:ext cx="8229600" cy="921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Metadata</a:t>
            </a:r>
          </a:p>
        </p:txBody>
      </p:sp>
    </p:spTree>
    <p:extLst>
      <p:ext uri="{BB962C8B-B14F-4D97-AF65-F5344CB8AC3E}">
        <p14:creationId xmlns:p14="http://schemas.microsoft.com/office/powerpoint/2010/main" val="1254038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590800" y="1600200"/>
            <a:ext cx="3813176" cy="3717925"/>
            <a:chOff x="382" y="1790"/>
            <a:chExt cx="2402" cy="2342"/>
          </a:xfrm>
          <a:effectLst/>
        </p:grpSpPr>
        <p:sp>
          <p:nvSpPr>
            <p:cNvPr id="3" name="Arc 16"/>
            <p:cNvSpPr>
              <a:spLocks/>
            </p:cNvSpPr>
            <p:nvPr/>
          </p:nvSpPr>
          <p:spPr bwMode="auto">
            <a:xfrm>
              <a:off x="1578" y="1790"/>
              <a:ext cx="1206" cy="1756"/>
            </a:xfrm>
            <a:custGeom>
              <a:avLst/>
              <a:gdLst>
                <a:gd name="G0" fmla="+- 72 0 0"/>
                <a:gd name="G1" fmla="+- 21600 0 0"/>
                <a:gd name="G2" fmla="+- 21600 0 0"/>
                <a:gd name="T0" fmla="*/ 0 w 21672"/>
                <a:gd name="T1" fmla="*/ 0 h 32394"/>
                <a:gd name="T2" fmla="*/ 18782 w 21672"/>
                <a:gd name="T3" fmla="*/ 32394 h 32394"/>
                <a:gd name="T4" fmla="*/ 72 w 21672"/>
                <a:gd name="T5" fmla="*/ 21600 h 32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72" h="32394" fill="none" extrusionOk="0">
                  <a:moveTo>
                    <a:pt x="0" y="0"/>
                  </a:moveTo>
                  <a:cubicBezTo>
                    <a:pt x="24" y="0"/>
                    <a:pt x="48" y="-1"/>
                    <a:pt x="72" y="0"/>
                  </a:cubicBezTo>
                  <a:cubicBezTo>
                    <a:pt x="12001" y="0"/>
                    <a:pt x="21672" y="9670"/>
                    <a:pt x="21672" y="21600"/>
                  </a:cubicBezTo>
                  <a:cubicBezTo>
                    <a:pt x="21672" y="25389"/>
                    <a:pt x="20675" y="29111"/>
                    <a:pt x="18781" y="32393"/>
                  </a:cubicBezTo>
                </a:path>
                <a:path w="21672" h="32394" stroke="0" extrusionOk="0">
                  <a:moveTo>
                    <a:pt x="0" y="0"/>
                  </a:moveTo>
                  <a:cubicBezTo>
                    <a:pt x="24" y="0"/>
                    <a:pt x="48" y="-1"/>
                    <a:pt x="72" y="0"/>
                  </a:cubicBezTo>
                  <a:cubicBezTo>
                    <a:pt x="12001" y="0"/>
                    <a:pt x="21672" y="9670"/>
                    <a:pt x="21672" y="21600"/>
                  </a:cubicBezTo>
                  <a:cubicBezTo>
                    <a:pt x="21672" y="25389"/>
                    <a:pt x="20675" y="29111"/>
                    <a:pt x="18781" y="32393"/>
                  </a:cubicBezTo>
                  <a:lnTo>
                    <a:pt x="72" y="21600"/>
                  </a:lnTo>
                  <a:close/>
                </a:path>
              </a:pathLst>
            </a:custGeom>
            <a:gradFill rotWithShape="1">
              <a:gsLst>
                <a:gs pos="0">
                  <a:srgbClr val="CCECFF"/>
                </a:gs>
                <a:gs pos="100000">
                  <a:srgbClr val="3366FF"/>
                </a:gs>
              </a:gsLst>
              <a:path path="shape">
                <a:fillToRect l="50000" t="50000" r="50000" b="50000"/>
              </a:path>
            </a:gradFill>
            <a:ln w="25400">
              <a:noFill/>
              <a:round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white"/>
                </a:solidFill>
                <a:latin typeface="Arial" charset="0"/>
              </a:endParaRPr>
            </a:p>
          </p:txBody>
        </p:sp>
        <p:sp>
          <p:nvSpPr>
            <p:cNvPr id="4" name="Arc 17"/>
            <p:cNvSpPr>
              <a:spLocks/>
            </p:cNvSpPr>
            <p:nvPr/>
          </p:nvSpPr>
          <p:spPr bwMode="auto">
            <a:xfrm>
              <a:off x="382" y="1790"/>
              <a:ext cx="1202" cy="175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854 w 21600"/>
                <a:gd name="T1" fmla="*/ 32331 h 32331"/>
                <a:gd name="T2" fmla="*/ 21528 w 21600"/>
                <a:gd name="T3" fmla="*/ 0 h 32331"/>
                <a:gd name="T4" fmla="*/ 21600 w 21600"/>
                <a:gd name="T5" fmla="*/ 21600 h 32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2331" fill="none" extrusionOk="0">
                  <a:moveTo>
                    <a:pt x="2854" y="32330"/>
                  </a:moveTo>
                  <a:cubicBezTo>
                    <a:pt x="983" y="29063"/>
                    <a:pt x="0" y="25364"/>
                    <a:pt x="0" y="21600"/>
                  </a:cubicBezTo>
                  <a:cubicBezTo>
                    <a:pt x="-1" y="9698"/>
                    <a:pt x="9626" y="39"/>
                    <a:pt x="21528" y="0"/>
                  </a:cubicBezTo>
                </a:path>
                <a:path w="21600" h="32331" stroke="0" extrusionOk="0">
                  <a:moveTo>
                    <a:pt x="2854" y="32330"/>
                  </a:moveTo>
                  <a:cubicBezTo>
                    <a:pt x="983" y="29063"/>
                    <a:pt x="0" y="25364"/>
                    <a:pt x="0" y="21600"/>
                  </a:cubicBezTo>
                  <a:cubicBezTo>
                    <a:pt x="-1" y="9698"/>
                    <a:pt x="9626" y="39"/>
                    <a:pt x="21528" y="0"/>
                  </a:cubicBezTo>
                  <a:lnTo>
                    <a:pt x="21600" y="21600"/>
                  </a:lnTo>
                  <a:close/>
                </a:path>
              </a:pathLst>
            </a:custGeom>
            <a:gradFill rotWithShape="1">
              <a:gsLst>
                <a:gs pos="0">
                  <a:srgbClr val="FFD1CD"/>
                </a:gs>
                <a:gs pos="100000">
                  <a:srgbClr val="E7010C"/>
                </a:gs>
              </a:gsLst>
              <a:path path="shape">
                <a:fillToRect l="50000" t="50000" r="50000" b="50000"/>
              </a:path>
            </a:gradFill>
            <a:ln w="25400">
              <a:noFill/>
              <a:round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white"/>
                </a:solidFill>
                <a:latin typeface="Arial" charset="0"/>
              </a:endParaRPr>
            </a:p>
          </p:txBody>
        </p:sp>
        <p:sp>
          <p:nvSpPr>
            <p:cNvPr id="5" name="Arc 18"/>
            <p:cNvSpPr>
              <a:spLocks/>
            </p:cNvSpPr>
            <p:nvPr/>
          </p:nvSpPr>
          <p:spPr bwMode="auto">
            <a:xfrm>
              <a:off x="539" y="2961"/>
              <a:ext cx="2084" cy="1171"/>
            </a:xfrm>
            <a:custGeom>
              <a:avLst/>
              <a:gdLst>
                <a:gd name="G0" fmla="+- 18746 0 0"/>
                <a:gd name="G1" fmla="+- 0 0 0"/>
                <a:gd name="G2" fmla="+- 21600 0 0"/>
                <a:gd name="T0" fmla="*/ 37456 w 37456"/>
                <a:gd name="T1" fmla="*/ 10794 h 21600"/>
                <a:gd name="T2" fmla="*/ 0 w 37456"/>
                <a:gd name="T3" fmla="*/ 10731 h 21600"/>
                <a:gd name="T4" fmla="*/ 18746 w 37456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456" h="21600" fill="none" extrusionOk="0">
                  <a:moveTo>
                    <a:pt x="37455" y="10793"/>
                  </a:moveTo>
                  <a:cubicBezTo>
                    <a:pt x="33598" y="17480"/>
                    <a:pt x="26465" y="21599"/>
                    <a:pt x="18746" y="21600"/>
                  </a:cubicBezTo>
                  <a:cubicBezTo>
                    <a:pt x="11000" y="21600"/>
                    <a:pt x="3848" y="17452"/>
                    <a:pt x="0" y="10730"/>
                  </a:cubicBezTo>
                </a:path>
                <a:path w="37456" h="21600" stroke="0" extrusionOk="0">
                  <a:moveTo>
                    <a:pt x="37455" y="10793"/>
                  </a:moveTo>
                  <a:cubicBezTo>
                    <a:pt x="33598" y="17480"/>
                    <a:pt x="26465" y="21599"/>
                    <a:pt x="18746" y="21600"/>
                  </a:cubicBezTo>
                  <a:cubicBezTo>
                    <a:pt x="11000" y="21600"/>
                    <a:pt x="3848" y="17452"/>
                    <a:pt x="0" y="10730"/>
                  </a:cubicBezTo>
                  <a:lnTo>
                    <a:pt x="18746" y="0"/>
                  </a:lnTo>
                  <a:close/>
                </a:path>
              </a:pathLst>
            </a:custGeom>
            <a:gradFill rotWithShape="0">
              <a:gsLst>
                <a:gs pos="0">
                  <a:srgbClr val="CCFFCC"/>
                </a:gs>
                <a:gs pos="100000">
                  <a:srgbClr val="009900"/>
                </a:gs>
              </a:gsLst>
              <a:path path="shape">
                <a:fillToRect l="50000" t="50000" r="50000" b="50000"/>
              </a:path>
            </a:gradFill>
            <a:ln w="25400">
              <a:noFill/>
              <a:round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white"/>
                </a:solidFill>
                <a:latin typeface="Arial" charset="0"/>
              </a:endParaRPr>
            </a:p>
          </p:txBody>
        </p:sp>
        <p:sp>
          <p:nvSpPr>
            <p:cNvPr id="6" name="Rectangle 19"/>
            <p:cNvSpPr>
              <a:spLocks noChangeArrowheads="1"/>
            </p:cNvSpPr>
            <p:nvPr/>
          </p:nvSpPr>
          <p:spPr bwMode="auto">
            <a:xfrm>
              <a:off x="1776" y="2496"/>
              <a:ext cx="791" cy="233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prstClr val="white"/>
                  </a:solidFill>
                </a:rPr>
                <a:t>Metadata</a:t>
              </a:r>
              <a:endParaRPr lang="en-US" sz="2400" dirty="0">
                <a:solidFill>
                  <a:prstClr val="white"/>
                </a:solidFill>
                <a:latin typeface="Times New Roman" pitchFamily="18" charset="0"/>
              </a:endParaRPr>
            </a:p>
          </p:txBody>
        </p:sp>
        <p:sp>
          <p:nvSpPr>
            <p:cNvPr id="7" name="Rectangle 20"/>
            <p:cNvSpPr>
              <a:spLocks noChangeArrowheads="1"/>
            </p:cNvSpPr>
            <p:nvPr/>
          </p:nvSpPr>
          <p:spPr bwMode="auto">
            <a:xfrm>
              <a:off x="966" y="3418"/>
              <a:ext cx="1143" cy="233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prstClr val="white"/>
                  </a:solidFill>
                </a:rPr>
                <a:t>Non-spatial</a:t>
              </a:r>
              <a:r>
                <a:rPr lang="en-US" sz="2400" b="1" dirty="0">
                  <a:solidFill>
                    <a:srgbClr val="4E5B6F"/>
                  </a:solidFill>
                </a:rPr>
                <a:t> </a:t>
              </a:r>
              <a:r>
                <a:rPr lang="en-US" sz="2400" b="1" dirty="0">
                  <a:solidFill>
                    <a:prstClr val="white"/>
                  </a:solidFill>
                </a:rPr>
                <a:t>or</a:t>
              </a:r>
              <a:endParaRPr lang="en-US" sz="2400" dirty="0">
                <a:solidFill>
                  <a:prstClr val="white"/>
                </a:solidFill>
                <a:latin typeface="Times New Roman" pitchFamily="18" charset="0"/>
              </a:endParaRPr>
            </a:p>
          </p:txBody>
        </p:sp>
        <p:sp>
          <p:nvSpPr>
            <p:cNvPr id="8" name="Rectangle 21"/>
            <p:cNvSpPr>
              <a:spLocks noChangeArrowheads="1"/>
            </p:cNvSpPr>
            <p:nvPr/>
          </p:nvSpPr>
          <p:spPr bwMode="auto">
            <a:xfrm>
              <a:off x="1141" y="3648"/>
              <a:ext cx="786" cy="233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prstClr val="white"/>
                  </a:solidFill>
                </a:rPr>
                <a:t>attributes</a:t>
              </a:r>
              <a:endParaRPr lang="en-US" sz="2400" dirty="0">
                <a:solidFill>
                  <a:prstClr val="white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22"/>
            <p:cNvSpPr>
              <a:spLocks noChangeArrowheads="1"/>
            </p:cNvSpPr>
            <p:nvPr/>
          </p:nvSpPr>
          <p:spPr bwMode="auto">
            <a:xfrm>
              <a:off x="723" y="2496"/>
              <a:ext cx="568" cy="233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prstClr val="white"/>
                  </a:solidFill>
                </a:rPr>
                <a:t>Spatial</a:t>
              </a:r>
              <a:endParaRPr lang="en-US" sz="2400" dirty="0">
                <a:solidFill>
                  <a:prstClr val="white"/>
                </a:solidFill>
                <a:latin typeface="Times New Roman" pitchFamily="18" charset="0"/>
              </a:endParaRPr>
            </a:p>
          </p:txBody>
        </p:sp>
      </p:grpSp>
      <p:sp>
        <p:nvSpPr>
          <p:cNvPr id="14" name="Title 1"/>
          <p:cNvSpPr txBox="1">
            <a:spLocks/>
          </p:cNvSpPr>
          <p:nvPr/>
        </p:nvSpPr>
        <p:spPr>
          <a:xfrm>
            <a:off x="457200" y="274638"/>
            <a:ext cx="8229600" cy="9142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3200" dirty="0"/>
              <a:t>All three must work together!</a:t>
            </a:r>
          </a:p>
        </p:txBody>
      </p:sp>
    </p:spTree>
    <p:extLst>
      <p:ext uri="{BB962C8B-B14F-4D97-AF65-F5344CB8AC3E}">
        <p14:creationId xmlns:p14="http://schemas.microsoft.com/office/powerpoint/2010/main" val="845867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33180"/>
          </a:xfrm>
        </p:spPr>
        <p:txBody>
          <a:bodyPr/>
          <a:lstStyle/>
          <a:p>
            <a:pPr algn="ctr"/>
            <a:r>
              <a:rPr lang="en-US" sz="3200" dirty="0"/>
              <a:t>GIS Map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7818"/>
            <a:ext cx="8331200" cy="4843039"/>
          </a:xfrm>
        </p:spPr>
        <p:txBody>
          <a:bodyPr>
            <a:normAutofit/>
          </a:bodyPr>
          <a:lstStyle/>
          <a:p>
            <a:r>
              <a:rPr lang="en-US" sz="2400" dirty="0"/>
              <a:t>GIS layers are unique because they combine information and geographic features. </a:t>
            </a:r>
          </a:p>
        </p:txBody>
      </p:sp>
      <p:pic>
        <p:nvPicPr>
          <p:cNvPr id="1028" name="Picture 4" descr="4 Different layers of data can be combined through a GIS to represent... |  Download Scientific Diagram">
            <a:extLst>
              <a:ext uri="{FF2B5EF4-FFF2-40B4-BE49-F238E27FC236}">
                <a16:creationId xmlns:a16="http://schemas.microsoft.com/office/drawing/2014/main" id="{D551D6F6-C4CF-4819-9A24-634FBF220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977753"/>
            <a:ext cx="3046236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853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500"/>
            <a:ext cx="8229600" cy="914240"/>
          </a:xfrm>
        </p:spPr>
        <p:txBody>
          <a:bodyPr/>
          <a:lstStyle/>
          <a:p>
            <a:pPr algn="ctr"/>
            <a:r>
              <a:rPr lang="en-US" sz="3200" dirty="0"/>
              <a:t>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31200" cy="2217057"/>
          </a:xfrm>
        </p:spPr>
        <p:txBody>
          <a:bodyPr>
            <a:noAutofit/>
          </a:bodyPr>
          <a:lstStyle/>
          <a:p>
            <a:r>
              <a:rPr lang="en-US" sz="2400" dirty="0"/>
              <a:t>Maps represent the 3-D world in 2-D space</a:t>
            </a:r>
          </a:p>
          <a:p>
            <a:pPr lvl="1"/>
            <a:r>
              <a:rPr lang="en-US" sz="2400" dirty="0"/>
              <a:t>There are hundreds of projections that attempt to represent this</a:t>
            </a:r>
          </a:p>
          <a:p>
            <a:pPr lvl="1"/>
            <a:r>
              <a:rPr lang="en-US" sz="2400" dirty="0"/>
              <a:t>No one projection can preserve all qualities of the world: shape, area, direction, and distance</a:t>
            </a:r>
          </a:p>
          <a:p>
            <a:pPr marL="457200" lvl="1" indent="0">
              <a:buNone/>
            </a:pPr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055257"/>
            <a:ext cx="3303320" cy="27421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412" y="3244344"/>
            <a:ext cx="4547606" cy="24009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951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personal.frostburg.edu/esblankenship0/fourworldmapprojections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9" t="15592" r="2737" b="11438"/>
          <a:stretch/>
        </p:blipFill>
        <p:spPr bwMode="auto">
          <a:xfrm>
            <a:off x="1066800" y="990600"/>
            <a:ext cx="7086600" cy="474594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46608" y="5729613"/>
            <a:ext cx="6850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+mn-lt"/>
              </a:rPr>
              <a:t>Image From: http://personal.frostburg.edu/esblankenship0/EricMaps.htm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Four World Map Projections</a:t>
            </a:r>
          </a:p>
        </p:txBody>
      </p:sp>
    </p:spTree>
    <p:extLst>
      <p:ext uri="{BB962C8B-B14F-4D97-AF65-F5344CB8AC3E}">
        <p14:creationId xmlns:p14="http://schemas.microsoft.com/office/powerpoint/2010/main" val="1262215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16915"/>
            <a:ext cx="7582307" cy="4621885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2B6C90-06B3-4950-8787-CB832893E796}"/>
              </a:ext>
            </a:extLst>
          </p:cNvPr>
          <p:cNvSpPr txBox="1"/>
          <p:nvPr/>
        </p:nvSpPr>
        <p:spPr>
          <a:xfrm>
            <a:off x="838200" y="228600"/>
            <a:ext cx="758230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picture below illustrates the similarities and differences of the three different projections. This image demonstrates the importance of defining the projection. 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17442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/>
              <a:t>GIS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00" y="1287009"/>
            <a:ext cx="4719171" cy="46470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400" dirty="0">
                <a:latin typeface="Arial"/>
                <a:cs typeface="Arial"/>
              </a:rPr>
              <a:t>Transportation</a:t>
            </a:r>
          </a:p>
          <a:p>
            <a:pPr lvl="1"/>
            <a:r>
              <a:rPr lang="en-US" sz="1200" dirty="0">
                <a:latin typeface="Arial"/>
                <a:cs typeface="Arial"/>
              </a:rPr>
              <a:t>Where should we build roads/bike paths to alleviate traffic congestion?</a:t>
            </a:r>
          </a:p>
          <a:p>
            <a:pPr lvl="1"/>
            <a:r>
              <a:rPr lang="en-US" sz="1200" dirty="0">
                <a:latin typeface="Arial"/>
                <a:cs typeface="Arial"/>
              </a:rPr>
              <a:t>New bus routes</a:t>
            </a:r>
          </a:p>
          <a:p>
            <a:pPr lvl="1"/>
            <a:r>
              <a:rPr lang="en-US" sz="1200" dirty="0">
                <a:latin typeface="Arial"/>
                <a:cs typeface="Arial"/>
              </a:rPr>
              <a:t>Delivery companies – optimizing drop offs</a:t>
            </a: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r>
              <a:rPr lang="en-US" sz="1400" dirty="0">
                <a:latin typeface="Arial"/>
                <a:cs typeface="Arial"/>
              </a:rPr>
              <a:t>Law Enforcement</a:t>
            </a:r>
            <a:endParaRPr lang="en-US" sz="1400"/>
          </a:p>
          <a:p>
            <a:pPr lvl="1"/>
            <a:r>
              <a:rPr lang="en-US" sz="1200" dirty="0">
                <a:latin typeface="Arial"/>
                <a:cs typeface="Arial"/>
              </a:rPr>
              <a:t>9-1-1 routing</a:t>
            </a:r>
            <a:endParaRPr lang="en-US" sz="1200" dirty="0"/>
          </a:p>
          <a:p>
            <a:pPr lvl="1"/>
            <a:r>
              <a:rPr lang="en-US" sz="1200" dirty="0">
                <a:latin typeface="Arial"/>
                <a:cs typeface="Arial"/>
              </a:rPr>
              <a:t>Crime "heat mapping"</a:t>
            </a:r>
          </a:p>
          <a:p>
            <a:pPr lvl="1"/>
            <a:endParaRPr lang="en-US" sz="1200" dirty="0"/>
          </a:p>
          <a:p>
            <a:r>
              <a:rPr lang="en-US" sz="1400" dirty="0">
                <a:latin typeface="Arial"/>
                <a:cs typeface="Arial"/>
              </a:rPr>
              <a:t>Environmental/Conservation</a:t>
            </a:r>
          </a:p>
          <a:p>
            <a:pPr lvl="1"/>
            <a:r>
              <a:rPr lang="en-US" sz="1200" dirty="0">
                <a:latin typeface="Arial"/>
                <a:cs typeface="Arial"/>
              </a:rPr>
              <a:t>Forestry</a:t>
            </a:r>
          </a:p>
          <a:p>
            <a:pPr lvl="1"/>
            <a:r>
              <a:rPr lang="en-US" sz="1200" dirty="0">
                <a:latin typeface="Arial"/>
                <a:cs typeface="Arial"/>
              </a:rPr>
              <a:t>Geology</a:t>
            </a:r>
          </a:p>
          <a:p>
            <a:pPr lvl="1"/>
            <a:r>
              <a:rPr lang="en-US" sz="1200" dirty="0">
                <a:latin typeface="Arial"/>
                <a:cs typeface="Arial"/>
              </a:rPr>
              <a:t>Hydrology</a:t>
            </a:r>
          </a:p>
          <a:p>
            <a:pPr marL="457200" lvl="1" indent="0">
              <a:buNone/>
            </a:pPr>
            <a:endParaRPr lang="en-US" sz="1200" dirty="0"/>
          </a:p>
          <a:p>
            <a:r>
              <a:rPr lang="en-US" sz="1400" dirty="0">
                <a:latin typeface="Arial"/>
                <a:cs typeface="Arial"/>
              </a:rPr>
              <a:t>Utility Management </a:t>
            </a:r>
          </a:p>
          <a:p>
            <a:pPr lvl="1"/>
            <a:r>
              <a:rPr lang="en-US" sz="1200" dirty="0">
                <a:latin typeface="Arial"/>
                <a:cs typeface="Arial"/>
              </a:rPr>
              <a:t>wastewater/stormwater management systems, phone, gas, and electric companies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5283"/>
          <a:stretch/>
        </p:blipFill>
        <p:spPr>
          <a:xfrm>
            <a:off x="4845395" y="1969181"/>
            <a:ext cx="4054051" cy="2885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1921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/>
              <a:t>GIS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6406" y="1726541"/>
            <a:ext cx="3639913" cy="349734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000" dirty="0">
                <a:latin typeface="Arial"/>
                <a:cs typeface="Arial"/>
              </a:rPr>
              <a:t>Public Health</a:t>
            </a:r>
            <a:endParaRPr lang="en-US" dirty="0"/>
          </a:p>
          <a:p>
            <a:pPr lvl="1"/>
            <a:r>
              <a:rPr lang="en-US" sz="1600" dirty="0">
                <a:latin typeface="Arial"/>
                <a:cs typeface="Arial"/>
              </a:rPr>
              <a:t>Environmental justice concerns – cumulative burden</a:t>
            </a:r>
          </a:p>
          <a:p>
            <a:pPr lvl="1"/>
            <a:r>
              <a:rPr lang="en-US" sz="1600" dirty="0">
                <a:latin typeface="Arial"/>
                <a:cs typeface="Arial"/>
              </a:rPr>
              <a:t>Medical deserts</a:t>
            </a:r>
          </a:p>
          <a:p>
            <a:r>
              <a:rPr lang="en-US" sz="2000" dirty="0"/>
              <a:t>Planning</a:t>
            </a:r>
          </a:p>
          <a:p>
            <a:pPr lvl="1"/>
            <a:r>
              <a:rPr lang="en-US" sz="1800" dirty="0">
                <a:latin typeface="Arial"/>
                <a:cs typeface="Arial"/>
              </a:rPr>
              <a:t>Zoning and Land Use</a:t>
            </a:r>
          </a:p>
          <a:p>
            <a:pPr lvl="1"/>
            <a:r>
              <a:rPr lang="en-US" sz="1800" dirty="0"/>
              <a:t>Public Input</a:t>
            </a:r>
          </a:p>
          <a:p>
            <a:r>
              <a:rPr lang="en-US" sz="2000" dirty="0"/>
              <a:t>Agriculture</a:t>
            </a:r>
          </a:p>
          <a:p>
            <a:pPr lvl="1"/>
            <a:r>
              <a:rPr lang="en-US" sz="2000" dirty="0"/>
              <a:t>Crop acreage</a:t>
            </a:r>
          </a:p>
          <a:p>
            <a:pPr lvl="1"/>
            <a:r>
              <a:rPr lang="en-US" sz="2000" dirty="0"/>
              <a:t>Pesticide/herbicide applications</a:t>
            </a:r>
          </a:p>
          <a:p>
            <a:pPr lvl="1"/>
            <a:r>
              <a:rPr lang="en-US" sz="2000" dirty="0">
                <a:latin typeface="Arial"/>
                <a:cs typeface="Arial"/>
              </a:rPr>
              <a:t>Precision ag.</a:t>
            </a:r>
            <a:endParaRPr lang="en-US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93273"/>
            <a:ext cx="4722227" cy="30913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5678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708561-FD0C-10C5-0396-01F82E2236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46" r="6558"/>
          <a:stretch>
            <a:fillRect/>
          </a:stretch>
        </p:blipFill>
        <p:spPr>
          <a:xfrm>
            <a:off x="228600" y="152400"/>
            <a:ext cx="8686800" cy="571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392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qr code with black dots&#10;&#10;AI-generated content may be incorrect.">
            <a:extLst>
              <a:ext uri="{FF2B5EF4-FFF2-40B4-BE49-F238E27FC236}">
                <a16:creationId xmlns:a16="http://schemas.microsoft.com/office/drawing/2014/main" id="{6513AE1F-ADDA-FA98-92E2-D1C4F0663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050" y="609600"/>
            <a:ext cx="4787900" cy="478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613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5DFC-2B07-4A8D-97EC-61C1311A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algn="ctr"/>
            <a:r>
              <a:rPr lang="en-US" sz="3200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47FA3-795A-41D6-A601-92E241FFE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824" y="2133600"/>
            <a:ext cx="8229600" cy="3611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Christopher Seeger</a:t>
            </a:r>
          </a:p>
          <a:p>
            <a:pPr marL="0" indent="0" algn="ctr">
              <a:buNone/>
            </a:pPr>
            <a:r>
              <a:rPr lang="en-US" sz="2400" dirty="0"/>
              <a:t>Iowa State University Extension and Outreach</a:t>
            </a:r>
          </a:p>
          <a:p>
            <a:pPr marL="0" indent="0" algn="ctr">
              <a:buNone/>
            </a:pPr>
            <a:r>
              <a:rPr lang="en-US" sz="2400" dirty="0"/>
              <a:t>Community and Economic Development</a:t>
            </a:r>
          </a:p>
          <a:p>
            <a:pPr marL="0" indent="0" algn="ctr">
              <a:buNone/>
            </a:pPr>
            <a:r>
              <a:rPr lang="en-US" sz="2400" dirty="0" err="1"/>
              <a:t>cjseeger@iastate.edu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81929770"/>
      </p:ext>
    </p:extLst>
  </p:cSld>
  <p:clrMapOvr>
    <a:masterClrMapping/>
  </p:clrMapOvr>
</p:sld>
</file>

<file path=ppt/theme/theme1.xml><?xml version="1.0" encoding="utf-8"?>
<a:theme xmlns:a="http://schemas.openxmlformats.org/drawingml/2006/main" name="ISUEO_StraightRedBar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ISUEO_StraightRedBarMaster.thmx</Template>
  <TotalTime>22630</TotalTime>
  <Words>851</Words>
  <Application>Microsoft Macintosh PowerPoint</Application>
  <PresentationFormat>On-screen Show (4:3)</PresentationFormat>
  <Paragraphs>131</Paragraphs>
  <Slides>22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  <vt:variant>
        <vt:lpstr>Custom Shows</vt:lpstr>
      </vt:variant>
      <vt:variant>
        <vt:i4>1</vt:i4>
      </vt:variant>
    </vt:vector>
  </HeadingPairs>
  <TitlesOfParts>
    <vt:vector size="28" baseType="lpstr">
      <vt:lpstr>Arial</vt:lpstr>
      <vt:lpstr>Arial Black</vt:lpstr>
      <vt:lpstr>Gill Sans MT</vt:lpstr>
      <vt:lpstr>Times New Roman</vt:lpstr>
      <vt:lpstr>ISUEO_StraightRedBarMaster</vt:lpstr>
      <vt:lpstr>PowerPoint Presentation</vt:lpstr>
      <vt:lpstr>Overview</vt:lpstr>
      <vt:lpstr>PowerPoint Presentation</vt:lpstr>
      <vt:lpstr>What is a Geographic Information System (GIS)?</vt:lpstr>
      <vt:lpstr>PowerPoint Presentation</vt:lpstr>
      <vt:lpstr>PowerPoint Presentation</vt:lpstr>
      <vt:lpstr>PowerPoint Presentation</vt:lpstr>
      <vt:lpstr>PowerPoint Presentation</vt:lpstr>
      <vt:lpstr>Maps contain a collection of layers that represent real-world objects</vt:lpstr>
      <vt:lpstr>PowerPoint Presentation</vt:lpstr>
      <vt:lpstr>PowerPoint Presentation</vt:lpstr>
      <vt:lpstr>PowerPoint Presentation</vt:lpstr>
      <vt:lpstr>PowerPoint Presentation</vt:lpstr>
      <vt:lpstr>GIS Map Layers</vt:lpstr>
      <vt:lpstr>Projection</vt:lpstr>
      <vt:lpstr>PowerPoint Presentation</vt:lpstr>
      <vt:lpstr>PowerPoint Presentation</vt:lpstr>
      <vt:lpstr>GIS Applications</vt:lpstr>
      <vt:lpstr>GIS Applications</vt:lpstr>
      <vt:lpstr>PowerPoint Presentation</vt:lpstr>
      <vt:lpstr>PowerPoint Presentation</vt:lpstr>
      <vt:lpstr>Contact Information</vt:lpstr>
      <vt:lpstr>LA class</vt:lpstr>
    </vt:vector>
  </TitlesOfParts>
  <Company>Iowa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College of Design</dc:creator>
  <cp:lastModifiedBy>Christopher Seeger</cp:lastModifiedBy>
  <cp:revision>469</cp:revision>
  <cp:lastPrinted>2017-08-30T18:23:01Z</cp:lastPrinted>
  <dcterms:created xsi:type="dcterms:W3CDTF">2012-03-06T17:22:45Z</dcterms:created>
  <dcterms:modified xsi:type="dcterms:W3CDTF">2026-02-25T02:46:30Z</dcterms:modified>
</cp:coreProperties>
</file>